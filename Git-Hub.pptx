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0" r:id="rId5"/>
    <p:sldId id="261" r:id="rId6"/>
    <p:sldId id="257" r:id="rId7"/>
    <p:sldId id="258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17BC5-3D44-6298-86B8-B02C65E47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4C6423-2893-B3BC-5B5F-70C28C1CD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A4E70E-0A88-FAA4-B474-B0A3CA3F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DAB18-5F9E-9EF2-A884-161F388C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094B36-34A0-7249-A6D5-2570B8DE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978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026E7-E675-725F-EB9A-9CED8A26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0A34B-D8B6-8CA7-5B0E-424F9C07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6E909-C5BF-7B83-C126-ABAB8D56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3E213-E93A-85B9-7038-63586E23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BC0BDA-7E14-1120-DF51-AAFA9B98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10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4C426-C72E-8EFE-8BAF-0332C6F4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A957E6-049C-8B69-2864-89EC16933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CFF0D-E878-38BA-A092-9E223EF3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730FED-D470-6EB6-2A61-5B59AD65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586DC7-E912-8A87-DD23-1A531413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435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B7D12-5524-47B8-86A0-F1707A8F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2C197-4B82-8E44-FE42-B33E146BB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1F5FA7-C20C-246B-84E3-66AAD779C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0CD8D7-3B9C-DEF5-7D86-2792D243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217527-D643-2DF3-D6CF-1D68C08A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5C3412-AE8B-1D04-39CE-2A685781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562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86F89-E86E-93EE-2A18-70B10B5B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32A545-F3D9-A4FB-A514-D64C4294D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DC238A-BCC0-543C-907C-A83806336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702E3A-046A-957C-D536-76FF68DF5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FADBB3-0968-10B9-49AF-7B0DFF9F0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87C66B8-4670-945D-4152-E96149E1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64A391B-406F-8E23-6CFA-7147FFB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DE193F-A1AD-614D-E848-E5E1458D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418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409CF-845B-7959-23A8-2E54D1EE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F37E4A-E2F7-424C-CE5B-1A17FD4B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BAE529-1070-562F-3469-653957FC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769D5D-3354-498E-D2D1-9A9A0C5E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632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EBACFF-F835-874D-81DA-217259E8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D4F2E5-680A-A79E-4A2C-B957131D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3EF80D-AD70-4C08-8B1E-6641C521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372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0CFB-DD3D-2993-2DE7-CE309E8D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FBE43-0BE0-DDCF-FD6E-48D2B5759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A070A5-96DE-991E-65F0-A126A32F4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2ED4C9-8915-252F-7754-E79D09F4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651914-159E-CCBA-F086-E752FBB5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373E6A-A82F-C7BD-3CC4-B52CA7F2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18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47F9F-A81A-A2FC-C51D-595737F3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B54C0B5-2FBB-BB3D-F53F-ED3013637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4EC8AF-7816-0BAC-7D83-8A8499A17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4D6562-B71F-C5DA-E18C-7EB108E1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E1B7AA-11AB-5DB7-1B95-BB394710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817EE6-5A51-EAB1-F7B7-28839698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634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09BA5-915F-22B0-C086-08097943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B0DEDC-BECB-1CDD-4C97-4C7EBDB18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378199-E12D-2DA0-BE40-77133558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68A39-59FF-7ECD-F8B3-0938C10E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A0DA70-C0C3-DAB6-A492-4D0E9F5C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111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600DC0-A096-FFCE-E5D6-2CA4EE61A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9430FF-E20C-5BAC-CEEF-E47E3184A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BCAE9A-20D1-28EA-7082-38F096F5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6F3EA-D035-F143-3314-2F492A23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06D2A-AD8A-5AD4-2911-3C9EB5FF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553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667A7F6-FBF2-FDC7-0C65-D6DA056D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110553-9FEF-212C-D5FC-020C3C77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B046E-E5DE-5A27-34BA-C95E52F1E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7E236-D65E-40AF-B70C-130391C498CF}" type="datetimeFigureOut">
              <a:rPr lang="es-MX" smtClean="0"/>
              <a:t>10/09/2025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F7D24B-3805-8C6F-9203-256776173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613141-0FD5-D63B-EEBF-20835046A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0847A-652A-448D-B8C4-D4F9A272D86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977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CC319F-DA46-0B1F-35D7-24ED2CE85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4880" y="1638498"/>
            <a:ext cx="5204489" cy="3160593"/>
          </a:xfrm>
        </p:spPr>
        <p:txBody>
          <a:bodyPr>
            <a:normAutofit fontScale="90000"/>
          </a:bodyPr>
          <a:lstStyle/>
          <a:p>
            <a:r>
              <a:rPr lang="es-MX" sz="12500" dirty="0">
                <a:solidFill>
                  <a:schemeClr val="bg1"/>
                </a:solidFill>
              </a:rPr>
              <a:t>Git</a:t>
            </a:r>
            <a:br>
              <a:rPr lang="es-MX" sz="12500" dirty="0">
                <a:solidFill>
                  <a:schemeClr val="bg1"/>
                </a:solidFill>
              </a:rPr>
            </a:br>
            <a:r>
              <a:rPr lang="es-MX" sz="12500" dirty="0">
                <a:solidFill>
                  <a:schemeClr val="bg1"/>
                </a:solidFill>
              </a:rPr>
              <a:t>GitHub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0257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413BEA-531F-1B66-813C-C24C60518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094"/>
            <a:ext cx="10515600" cy="56928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00B050"/>
                </a:solidFill>
              </a:rPr>
              <a:t>	¿Qué es Git?</a:t>
            </a:r>
          </a:p>
          <a:p>
            <a:r>
              <a:rPr lang="es-MX" dirty="0"/>
              <a:t>Sistema de </a:t>
            </a:r>
            <a:r>
              <a:rPr lang="es-MX" b="1" dirty="0"/>
              <a:t>control de versiones distribuido</a:t>
            </a:r>
            <a:r>
              <a:rPr lang="es-MX" dirty="0"/>
              <a:t>.</a:t>
            </a:r>
          </a:p>
          <a:p>
            <a:r>
              <a:rPr lang="es-MX" dirty="0"/>
              <a:t>Permite guardar el historial de cambios en tu código.</a:t>
            </a:r>
          </a:p>
          <a:p>
            <a:r>
              <a:rPr lang="es-MX" dirty="0"/>
              <a:t>Puedes regresar a versiones anteriores y trabajar en paralelo con ramas.</a:t>
            </a:r>
          </a:p>
          <a:p>
            <a:r>
              <a:rPr lang="es-MX" dirty="0"/>
              <a:t>Funciona </a:t>
            </a:r>
            <a:r>
              <a:rPr lang="es-MX" b="1" dirty="0"/>
              <a:t>localmente</a:t>
            </a:r>
            <a:r>
              <a:rPr lang="es-MX" dirty="0"/>
              <a:t> en tu computadora.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b="1" dirty="0">
                <a:solidFill>
                  <a:srgbClr val="0070C0"/>
                </a:solidFill>
              </a:rPr>
              <a:t>Flujo básico con Git</a:t>
            </a:r>
          </a:p>
          <a:p>
            <a:r>
              <a:rPr lang="es-MX" dirty="0"/>
              <a:t>Repositorio local: tu proyecto con Git inicializado.</a:t>
            </a:r>
          </a:p>
          <a:p>
            <a:r>
              <a:rPr lang="es-MX" dirty="0" err="1"/>
              <a:t>Staging</a:t>
            </a:r>
            <a:r>
              <a:rPr lang="es-MX" dirty="0"/>
              <a:t> </a:t>
            </a:r>
            <a:r>
              <a:rPr lang="es-MX" dirty="0" err="1"/>
              <a:t>area</a:t>
            </a:r>
            <a:r>
              <a:rPr lang="es-MX" dirty="0"/>
              <a:t>: área intermedia donde preparas archivos para guardar.</a:t>
            </a:r>
          </a:p>
          <a:p>
            <a:r>
              <a:rPr lang="es-MX" dirty="0" err="1"/>
              <a:t>Commit</a:t>
            </a:r>
            <a:r>
              <a:rPr lang="es-MX" dirty="0"/>
              <a:t>: "foto" de los cambios en tu proyecto.</a:t>
            </a:r>
          </a:p>
          <a:p>
            <a:r>
              <a:rPr lang="es-MX" dirty="0"/>
              <a:t>Repositorio remoto (GitHub): donde compartes y sincronizas tu proyecto.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39294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CAA8D9-A2D1-78A5-B9E1-B9B25CF5B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94" y="610253"/>
            <a:ext cx="11049000" cy="56374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Git es un sistema de control de versiones distribuido (DVCS) de código abierto que permite a los desarrolladores rastrear cambios, colaborar en proyectos y gestionar el historial del código fuente de manera eficiente. Permite que cada miembro del equipo tenga una copia local del proyecto, lo que facilita el trabajo sin conexión y la gestión de diferentes versiones o ramas de código. Sus características principales son la velocidad, la seguridad y la flexibilidad, lo que lo convierte en una herramienta fundamental para el desarrollo de software. </a:t>
            </a:r>
          </a:p>
          <a:p>
            <a:pPr marL="0" indent="0">
              <a:buNone/>
            </a:pPr>
            <a:r>
              <a:rPr lang="es-MX" sz="2000" dirty="0"/>
              <a:t>Características de Git</a:t>
            </a:r>
          </a:p>
          <a:p>
            <a:r>
              <a:rPr lang="es-MX" sz="2000" b="1" dirty="0"/>
              <a:t>Sistemas de control de versiones distribuido (DVCS)</a:t>
            </a:r>
            <a:r>
              <a:rPr lang="es-MX" sz="2000" dirty="0"/>
              <a:t>: A diferencia de los sistemas centralizados, Git proporciona a cada desarrollador una copia completa y local del repositorio, incluyendo todo el historial de cambios</a:t>
            </a:r>
          </a:p>
          <a:p>
            <a:r>
              <a:rPr lang="es-MX" sz="2000" b="1" dirty="0"/>
              <a:t>Rendimiento</a:t>
            </a:r>
            <a:r>
              <a:rPr lang="es-MX" sz="2000" dirty="0"/>
              <a:t>: Git está optimizado para la velocidad en operaciones como la confirmación de cambios, la ramificación y la fusión</a:t>
            </a:r>
          </a:p>
          <a:p>
            <a:r>
              <a:rPr lang="es-MX" sz="2000" b="1" dirty="0"/>
              <a:t>Flexibilidad</a:t>
            </a:r>
            <a:r>
              <a:rPr lang="es-MX" sz="2000" dirty="0"/>
              <a:t>: Permite múltiples flujos de trabajo de desarrollo y se adapta tanto a proyectos grandes como pequeño</a:t>
            </a:r>
          </a:p>
          <a:p>
            <a:r>
              <a:rPr lang="es-MX" sz="2000" b="1" dirty="0"/>
              <a:t>Seguridad</a:t>
            </a:r>
            <a:r>
              <a:rPr lang="es-MX" sz="2000" dirty="0"/>
              <a:t>: Utiliza algoritmos de hash (SHA-1) para proteger la integridad del código y su historial</a:t>
            </a:r>
          </a:p>
          <a:p>
            <a:r>
              <a:rPr lang="es-MX" sz="2000" b="1" dirty="0"/>
              <a:t>Base de datos de instantáneas</a:t>
            </a:r>
            <a:r>
              <a:rPr lang="es-MX" sz="2000" dirty="0"/>
              <a:t>: En lugar de almacenar una lista de cambios, Git guarda instantáneas de los archivos cada vez que se guarda un cambio</a:t>
            </a:r>
          </a:p>
        </p:txBody>
      </p:sp>
    </p:spTree>
    <p:extLst>
      <p:ext uri="{BB962C8B-B14F-4D97-AF65-F5344CB8AC3E}">
        <p14:creationId xmlns:p14="http://schemas.microsoft.com/office/powerpoint/2010/main" val="144690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0E7B-3D65-0B1C-F5B8-E91FB24F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964486-5FD5-AF3C-C05D-AF5D2AC2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88" y="443753"/>
            <a:ext cx="10941423" cy="54508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>
                <a:solidFill>
                  <a:srgbClr val="00B050"/>
                </a:solidFill>
              </a:rPr>
              <a:t>	</a:t>
            </a:r>
            <a:r>
              <a:rPr lang="es-MX" dirty="0"/>
              <a:t>	</a:t>
            </a:r>
            <a:r>
              <a:rPr lang="es-MX" b="1" dirty="0">
                <a:solidFill>
                  <a:srgbClr val="FF0000"/>
                </a:solidFill>
              </a:rPr>
              <a:t>¿Qué es GitHub?</a:t>
            </a:r>
          </a:p>
          <a:p>
            <a:r>
              <a:rPr lang="es-MX" sz="2600" dirty="0"/>
              <a:t>Plataforma en la nube que usa Git.</a:t>
            </a:r>
          </a:p>
          <a:p>
            <a:r>
              <a:rPr lang="es-MX" sz="2600" dirty="0"/>
              <a:t>Permite </a:t>
            </a:r>
            <a:r>
              <a:rPr lang="es-MX" sz="2600" b="1" dirty="0"/>
              <a:t>colaborar en proyectos</a:t>
            </a:r>
            <a:r>
              <a:rPr lang="es-MX" sz="2600" dirty="0"/>
              <a:t> con otros.</a:t>
            </a:r>
          </a:p>
          <a:p>
            <a:r>
              <a:rPr lang="es-MX" sz="2600" dirty="0"/>
              <a:t>Es como un </a:t>
            </a:r>
            <a:r>
              <a:rPr lang="es-MX" sz="2600" b="1" dirty="0"/>
              <a:t>Dropbox/Google Drive</a:t>
            </a:r>
            <a:r>
              <a:rPr lang="es-MX" sz="2600" dirty="0"/>
              <a:t> pero especializado en código, con funciones extra (issues, pull requests, CI/CD, </a:t>
            </a:r>
            <a:r>
              <a:rPr lang="es-MX" sz="2600" dirty="0" err="1"/>
              <a:t>etc</a:t>
            </a:r>
            <a:r>
              <a:rPr lang="es-MX" sz="2600" dirty="0"/>
              <a:t>).</a:t>
            </a:r>
          </a:p>
          <a:p>
            <a:r>
              <a:rPr lang="es-MX" sz="2600" dirty="0"/>
              <a:t>Existen alternativas: </a:t>
            </a:r>
            <a:r>
              <a:rPr lang="es-MX" sz="2600" dirty="0" err="1"/>
              <a:t>GitLab</a:t>
            </a:r>
            <a:r>
              <a:rPr lang="es-MX" sz="2600" dirty="0"/>
              <a:t>, </a:t>
            </a:r>
            <a:r>
              <a:rPr lang="es-MX" sz="2600" dirty="0" err="1"/>
              <a:t>Bitbucket</a:t>
            </a:r>
            <a:r>
              <a:rPr lang="es-MX" sz="2600" dirty="0"/>
              <a:t>.</a:t>
            </a:r>
          </a:p>
          <a:p>
            <a:pPr marL="0" indent="0">
              <a:buNone/>
            </a:pPr>
            <a:endParaRPr lang="es-MX" sz="2600" dirty="0"/>
          </a:p>
          <a:p>
            <a:pPr marL="0" indent="0" algn="just">
              <a:buNone/>
            </a:pPr>
            <a:r>
              <a:rPr lang="es-MX" sz="2600" dirty="0"/>
              <a:t>GitHub es una plataforma basada en la nube que utiliza Git para alojar, gestionar y colaborar en proyectos de software. Sus funciones principales incluyen el almacenamiento de código en repositorios, el control de versiones para rastrear cambios y facilitar la colaboración entre desarrolladores mediante herramientas como pull requests y issues. Además, ofrece características para la automatización, como CI/CD con GitHub Actions, y servicios como GitHub Pages para alojar sitios web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781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EB08A9-CC05-CA74-0A99-2CAE18BCB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38871"/>
            <a:ext cx="11900646" cy="635018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b="1" dirty="0">
                <a:solidFill>
                  <a:schemeClr val="accent5">
                    <a:lumMod val="75000"/>
                  </a:schemeClr>
                </a:solidFill>
              </a:rPr>
              <a:t>Funciones clave de GitHub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Control de versiones (Git):  </a:t>
            </a:r>
            <a:r>
              <a:rPr lang="es-MX" dirty="0"/>
              <a:t>Permite a los desarrolladores rastrear, gestionar y revertir cambios en el código a lo largo del tiempo, evitando conflictos y facilitando la colaboración en equipos. 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Repositorios: </a:t>
            </a:r>
            <a:r>
              <a:rPr lang="es-MX" dirty="0"/>
              <a:t>Son espacios en la nube donde se almacenan todos los archivos de un proyecto. Los repositorios pueden ser públicos o privados. 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Colaboración: </a:t>
            </a:r>
            <a:r>
              <a:rPr lang="es-MX" dirty="0"/>
              <a:t>Facilita el trabajo en equipo gracias a funciones como: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s-MX" b="1" dirty="0"/>
              <a:t>Pull Requests</a:t>
            </a:r>
            <a:r>
              <a:rPr lang="es-MX" dirty="0"/>
              <a:t>: Una forma de proponer cambios al código de un proyecto para su revisión y aprobación por otros miembros del equipo antes de fusionarlos. 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s-MX" b="1" dirty="0"/>
              <a:t>Issues</a:t>
            </a:r>
            <a:r>
              <a:rPr lang="es-MX" dirty="0"/>
              <a:t>: Un sistema para reportar errores, solicitar nuevas funcionalidades o gestionar tareas pendientes dentro del proyecto. 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s-MX" b="1" dirty="0"/>
              <a:t>Ramificación (Branching)</a:t>
            </a:r>
            <a:r>
              <a:rPr lang="es-MX" dirty="0"/>
              <a:t>: Permite crear "copias" de una sección de un proyecto para trabajar en nuevas características o experimentos sin afectar el código principal. 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GitHub Actions: </a:t>
            </a:r>
            <a:r>
              <a:rPr lang="es-MX" dirty="0"/>
              <a:t>Automatiza flujos de trabajo para la integración y el despliegue continuo (CI/CD), permitiendo que el código se pruebe y se despliegue automáticamente tras cambios. 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GitHub Pages: </a:t>
            </a:r>
            <a:r>
              <a:rPr lang="es-MX" dirty="0"/>
              <a:t>Una herramienta para alojar sitios web estáticos directamente desde un repositorio, ideal para portafolios, documentación o blogs de proyectos. </a:t>
            </a:r>
          </a:p>
          <a:p>
            <a:pPr algn="just"/>
            <a:r>
              <a:rPr lang="es-MX" b="1" dirty="0">
                <a:solidFill>
                  <a:srgbClr val="0070C0"/>
                </a:solidFill>
              </a:rPr>
              <a:t>Comunidad de código abierto: </a:t>
            </a:r>
            <a:r>
              <a:rPr lang="es-MX" dirty="0"/>
              <a:t>GitHub es una plataforma importante para proyectos de código abierto, permitiendo a los desarrolladores de todo el mundo explorar, contribuir y colaborar. </a:t>
            </a:r>
          </a:p>
        </p:txBody>
      </p:sp>
    </p:spTree>
    <p:extLst>
      <p:ext uri="{BB962C8B-B14F-4D97-AF65-F5344CB8AC3E}">
        <p14:creationId xmlns:p14="http://schemas.microsoft.com/office/powerpoint/2010/main" val="205529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it Cheat Sheet 📄 (50 commands + PDF and poster) - DEV Community">
            <a:extLst>
              <a:ext uri="{FF2B5EF4-FFF2-40B4-BE49-F238E27FC236}">
                <a16:creationId xmlns:a16="http://schemas.microsoft.com/office/drawing/2014/main" id="{F7769570-A94C-48F3-C7B9-67AC1A404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2BDBBC-4F84-AC9C-BABB-345AC41D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06" y="0"/>
            <a:ext cx="11602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4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8D8D2F3-D763-77A8-3BB6-A477DC7B7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60"/>
          <a:stretch>
            <a:fillRect/>
          </a:stretch>
        </p:blipFill>
        <p:spPr>
          <a:xfrm>
            <a:off x="952241" y="1"/>
            <a:ext cx="9930618" cy="68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0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BEAE8B6-98F4-E391-D835-08F8FC91E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80" y="0"/>
            <a:ext cx="10628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1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125CE8C-9FC7-5E95-2BC4-ED303AB0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44" y="0"/>
            <a:ext cx="10115186" cy="685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2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1F0C600-FB05-F856-E5C5-C060B864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098" y="1622783"/>
            <a:ext cx="5210902" cy="41820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ACDC56-4EFC-2224-1433-56BE8052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00"/>
          <a:stretch>
            <a:fillRect/>
          </a:stretch>
        </p:blipFill>
        <p:spPr>
          <a:xfrm>
            <a:off x="0" y="168639"/>
            <a:ext cx="6810282" cy="65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53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2B11DCEB-74B7-B4D2-4698-696442E923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5464" r="30636" b="65382"/>
          <a:stretch>
            <a:fillRect/>
          </a:stretch>
        </p:blipFill>
        <p:spPr bwMode="auto">
          <a:xfrm>
            <a:off x="0" y="0"/>
            <a:ext cx="5591331" cy="369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1453D44D-C0A3-BEBB-3DAB-F7F42CFED1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9" t="68087" r="8030" b="7321"/>
          <a:stretch>
            <a:fillRect/>
          </a:stretch>
        </p:blipFill>
        <p:spPr bwMode="auto">
          <a:xfrm>
            <a:off x="0" y="4167267"/>
            <a:ext cx="6472322" cy="269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">
            <a:extLst>
              <a:ext uri="{FF2B5EF4-FFF2-40B4-BE49-F238E27FC236}">
                <a16:creationId xmlns:a16="http://schemas.microsoft.com/office/drawing/2014/main" id="{DB630CF0-2498-BA69-8124-FE6A24169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7" t="37570" r="11284" b="35194"/>
          <a:stretch>
            <a:fillRect/>
          </a:stretch>
        </p:blipFill>
        <p:spPr bwMode="auto">
          <a:xfrm>
            <a:off x="5917358" y="1466749"/>
            <a:ext cx="6373482" cy="306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163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681</Words>
  <Application>Microsoft Office PowerPoint</Application>
  <PresentationFormat>Panorámica</PresentationFormat>
  <Paragraphs>36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de Office</vt:lpstr>
      <vt:lpstr>Git GitHub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Idelfonso Iturbe Nepomuceno</dc:creator>
  <cp:lastModifiedBy>Idelfonso Iturbe Nepomuceno</cp:lastModifiedBy>
  <cp:revision>21</cp:revision>
  <dcterms:created xsi:type="dcterms:W3CDTF">2025-09-10T12:47:25Z</dcterms:created>
  <dcterms:modified xsi:type="dcterms:W3CDTF">2025-09-10T15:18:46Z</dcterms:modified>
</cp:coreProperties>
</file>